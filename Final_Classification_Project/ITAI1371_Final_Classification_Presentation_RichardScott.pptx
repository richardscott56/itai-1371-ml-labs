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binary classification problem. The target labels are Benign and Malicious. Explain that I rebuilt the Final notebook cleanly to avoid confusion from the earlier group Mid-Term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duplicate-row correction. The first perfect result made me check for leakage and duplicates. There were many exact duplicate rows, so I removed them before exporting and splitting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required split and list the required models. Mention that all of these are classifiers, not regressors.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result carefully. Say that perfect scores can be a warning sign, so I checked for target leakage and duplicates. After removing exact duplicates, the test results were still perfect, which suggests the data is highly separable.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wording correction: because this is classification, a Voting Classifier is the appropriate ensemble, not a Voting Regressor. Gaussian Naive Bayes was used for the Bayesian model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main story: the project was rebuilt cleanly, the duplicate issue was found and corrected, and the final model comparison was completed in a clean GitHub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lean_futuristic_abstract_technology_bac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1060704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Benign vs. Malicious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Network Traffic Classification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257860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9E8"/>
                </a:solidFill>
              </a:rPr>
              <a:t>Final Exam Project • ITAI 1371 Intro to Machine Learning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58368" y="434340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Goal: use connection-log data to classify each record as Benign or Malicious and compare multiple classification models.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8368" y="532180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8D7FF"/>
                </a:solidFill>
              </a:rPr>
              <a:t>Binary classification  •  cleaned dataset  •  GitHub submission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645566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ADB"/>
                </a:solidFill>
              </a:rPr>
              <a:t>ITAI 1371 Final Project  |  Richard Scott  |  1/6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abstract_3d_infographic_scene_i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71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Cleanup: What Changed Before Modeling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777240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F80ED"/>
                </a:solidFill>
              </a:rPr>
              <a:t>10,403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777240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71421"/>
                </a:solidFill>
              </a:rPr>
              <a:t>initial labeled rows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3703320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2A541"/>
                </a:solidFill>
              </a:rPr>
              <a:t>5,973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3703320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71421"/>
                </a:solidFill>
              </a:rPr>
              <a:t>exact duplicates removed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56832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3FD18B"/>
                </a:solidFill>
              </a:rPr>
              <a:t>4,430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6656832" y="1801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71421"/>
                </a:solidFill>
              </a:rPr>
              <a:t>rows used for modeling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29900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71421"/>
                </a:solidFill>
              </a:rPr>
              <a:t>Preprocessing steps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68680" y="3456432"/>
            <a:ext cx="48920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50" dirty="0">
                <a:solidFill>
                  <a:srgbClr val="071421"/>
                </a:solidFill>
              </a:rPr>
              <a:t>Kept only Benign and Malicious labels</a:t>
            </a:r>
            <a:endParaRPr lang="en-US" sz="1550" dirty="0"/>
          </a:p>
          <a:p>
            <a:r>
              <a:rPr lang="en-US" sz="1550" dirty="0">
                <a:solidFill>
                  <a:srgbClr val="071421"/>
                </a:solidFill>
              </a:rPr>
              <a:t>Converted numeric connection fields</a:t>
            </a:r>
            <a:endParaRPr lang="en-US" sz="1550" dirty="0"/>
          </a:p>
          <a:p>
            <a:r>
              <a:rPr lang="en-US" sz="1550" dirty="0">
                <a:solidFill>
                  <a:srgbClr val="071421"/>
                </a:solidFill>
              </a:rPr>
              <a:t>Filled missing numeric values</a:t>
            </a:r>
            <a:endParaRPr lang="en-US" sz="1550" dirty="0"/>
          </a:p>
          <a:p>
            <a:r>
              <a:rPr lang="en-US" sz="1550" dirty="0">
                <a:solidFill>
                  <a:srgbClr val="071421"/>
                </a:solidFill>
              </a:rPr>
              <a:t>Encoded categories with one-hot encoding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400800" y="29900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71421"/>
                </a:solidFill>
              </a:rPr>
              <a:t>Feature engineering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46520" y="3456432"/>
            <a:ext cx="452628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50" dirty="0">
                <a:solidFill>
                  <a:srgbClr val="071421"/>
                </a:solidFill>
              </a:rPr>
              <a:t>total_bytes and total_packets</a:t>
            </a:r>
            <a:endParaRPr lang="en-US" sz="1550" dirty="0"/>
          </a:p>
          <a:p>
            <a:r>
              <a:rPr lang="en-US" sz="1550" dirty="0">
                <a:solidFill>
                  <a:srgbClr val="071421"/>
                </a:solidFill>
              </a:rPr>
              <a:t>bytes_per_packet</a:t>
            </a:r>
            <a:endParaRPr lang="en-US" sz="1550" dirty="0"/>
          </a:p>
          <a:p>
            <a:r>
              <a:rPr lang="en-US" sz="1550" dirty="0">
                <a:solidFill>
                  <a:srgbClr val="071421"/>
                </a:solidFill>
              </a:rPr>
              <a:t>packet_density</a:t>
            </a:r>
            <a:endParaRPr lang="en-US" sz="1550" dirty="0"/>
          </a:p>
          <a:p>
            <a:r>
              <a:rPr lang="en-US" sz="1550" dirty="0">
                <a:solidFill>
                  <a:srgbClr val="071421"/>
                </a:solidFill>
              </a:rPr>
              <a:t>clean target: Benign = 0, Malicious = 1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77240" y="562356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71421"/>
                </a:solidFill>
              </a:rPr>
              <a:t>Duplicate rows were removed before the split so identical records would not appear in both training and testing.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94360" y="645566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7186"/>
                </a:solidFill>
              </a:rPr>
              <a:t>ITAI 1371 Final Project  |  Richard Scott  |  2/6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infographic_style_tech_background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71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Modeling Workflow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960120" y="1207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F80ED"/>
                </a:solidFill>
              </a:rPr>
              <a:t>70%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960120" y="1728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71421"/>
                </a:solidFill>
              </a:rPr>
              <a:t>training data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983480" y="1207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3FD18B"/>
                </a:solidFill>
              </a:rPr>
              <a:t>15%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4983480" y="1728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71421"/>
                </a:solidFill>
              </a:rPr>
              <a:t>validation data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732520" y="1207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2A541"/>
                </a:solidFill>
              </a:rPr>
              <a:t>15%</a:t>
            </a:r>
            <a:endParaRPr lang="en-US" sz="3100" dirty="0"/>
          </a:p>
        </p:txBody>
      </p:sp>
      <p:sp>
        <p:nvSpPr>
          <p:cNvPr id="9" name="Text 6"/>
          <p:cNvSpPr/>
          <p:nvPr/>
        </p:nvSpPr>
        <p:spPr>
          <a:xfrm>
            <a:off x="8732520" y="1728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71421"/>
                </a:solidFill>
              </a:rPr>
              <a:t>test data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34015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421"/>
                </a:solidFill>
              </a:rPr>
              <a:t>Models trained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68680" y="3977640"/>
            <a:ext cx="3383280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71421"/>
                </a:solidFill>
              </a:rPr>
              <a:t>Logistic Regression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71421"/>
                </a:solidFill>
              </a:rPr>
              <a:t>Decision Tree Classifier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71421"/>
                </a:solidFill>
              </a:rPr>
              <a:t>Random Forest Classifier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0" y="3977640"/>
            <a:ext cx="3657600" cy="9326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71421"/>
                </a:solidFill>
              </a:rPr>
              <a:t>Gradient Boosting Classifier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71421"/>
                </a:solidFill>
              </a:rPr>
              <a:t>K-Nearest Neighbors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71421"/>
                </a:solidFill>
              </a:rPr>
              <a:t>Support Vector Classifier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0" y="34015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421"/>
                </a:solidFill>
              </a:rPr>
              <a:t>Metrics used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732520" y="3977640"/>
            <a:ext cx="228600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71421"/>
                </a:solidFill>
              </a:rPr>
              <a:t>Accuracy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71421"/>
                </a:solidFill>
              </a:rPr>
              <a:t>Precision / Recall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71421"/>
                </a:solidFill>
              </a:rPr>
              <a:t>F1-Score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71421"/>
                </a:solidFill>
              </a:rPr>
              <a:t>ROC-AUC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77240" y="5687568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071421"/>
                </a:solidFill>
              </a:rPr>
              <a:t>The validation set was used for model comparison; the test set was used for final results.</a:t>
            </a:r>
            <a:endParaRPr lang="en-US" sz="1480" dirty="0"/>
          </a:p>
        </p:txBody>
      </p:sp>
      <p:sp>
        <p:nvSpPr>
          <p:cNvPr id="16" name="Text 13"/>
          <p:cNvSpPr/>
          <p:nvPr/>
        </p:nvSpPr>
        <p:spPr>
          <a:xfrm>
            <a:off x="594360" y="645566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7186"/>
                </a:solidFill>
              </a:rPr>
              <a:t>ITAI 1371 Final Project  |  Richard Scott  |  3/6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futuristic_dark_themed_dashboard_ui_illus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Comparison Results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777240" y="117043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 Set Results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04672" y="1673352"/>
            <a:ext cx="5760720" cy="2340864"/>
          </a:xfrm>
          <a:prstGeom prst="rect">
            <a:avLst/>
          </a:prstGeom>
          <a:solidFill>
            <a:srgbClr val="071421">
              <a:alpha val="88000"/>
            </a:srgbClr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                        Accuracy    F1    ROC-AUC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Logistic Regression              1.000   1.000   1.000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Tree                    1.000   1.000   1.000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Forest                    1.000   1.000   1.000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 Boosting                1.000   1.000   1.000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KNN                              1.000   1.000   1.000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                              1.000   1.000   1.000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04672" y="43616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D7FF"/>
                </a:solidFill>
              </a:rPr>
              <a:t>Best final model: Logistic Regression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4672" y="473659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AF4FF"/>
                </a:solidFill>
              </a:rPr>
              <a:t>It reached the same perfect test result as the more complex models, but it is simpler to explain.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12280" y="11704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Confusion Matrix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12280" y="1920240"/>
            <a:ext cx="4572000" cy="1097280"/>
          </a:xfrm>
          <a:prstGeom prst="rect">
            <a:avLst/>
          </a:prstGeom>
          <a:solidFill>
            <a:srgbClr val="071421">
              <a:alpha val="88000"/>
            </a:srgbClr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Predicted Benign   Predicted Malicious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Benign           48                   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Malicious         0                  617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6656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3FD18B"/>
                </a:solidFill>
              </a:rPr>
              <a:t>0</a:t>
            </a:r>
            <a:endParaRPr lang="en-US" sz="3100" dirty="0"/>
          </a:p>
        </p:txBody>
      </p:sp>
      <p:sp>
        <p:nvSpPr>
          <p:cNvPr id="11" name="Text 8"/>
          <p:cNvSpPr/>
          <p:nvPr/>
        </p:nvSpPr>
        <p:spPr>
          <a:xfrm>
            <a:off x="6766560" y="4498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4FF"/>
                </a:solidFill>
              </a:rPr>
              <a:t>false alarms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09828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3FD18B"/>
                </a:solidFill>
              </a:rPr>
              <a:t>0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9098280" y="44988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4FF"/>
                </a:solidFill>
              </a:rPr>
              <a:t>missed malicious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7240" y="57607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AF4FF"/>
                </a:solidFill>
              </a:rPr>
              <a:t>Perfect scores were reviewed carefully: no label/target leakage was found, and exact duplicates were removed before splitting.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94360" y="645566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ADB"/>
                </a:solidFill>
              </a:rPr>
              <a:t>ITAI 1371 Final Project  |  Richard Scott  |  4/6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leek_futuristic_cybersecurity_ai_data_flow_vis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Ensemble and Bayesian Comparison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777240" y="1207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Voting Classifier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786384" y="1737360"/>
            <a:ext cx="5074920" cy="594360"/>
          </a:xfrm>
          <a:prstGeom prst="rect">
            <a:avLst/>
          </a:prstGeom>
          <a:solidFill>
            <a:srgbClr val="071421">
              <a:alpha val="80000"/>
            </a:srgbClr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4FF"/>
                </a:solidFill>
              </a:rPr>
              <a:t>The assignment mentioned a Voting Regressor, but this project predicts classes, so I used a Voting Classifier.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2761488"/>
            <a:ext cx="45720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FFFFFF"/>
                </a:solidFill>
              </a:rPr>
              <a:t>Used the best three validation models</a:t>
            </a:r>
            <a:endParaRPr lang="en-US" sz="1500" dirty="0"/>
          </a:p>
          <a:p>
            <a:r>
              <a:rPr lang="en-US" sz="1500" dirty="0">
                <a:solidFill>
                  <a:srgbClr val="FFFFFF"/>
                </a:solidFill>
              </a:rPr>
              <a:t>Combined model probability outputs</a:t>
            </a:r>
            <a:endParaRPr lang="en-US" sz="1500" dirty="0"/>
          </a:p>
          <a:p>
            <a:r>
              <a:rPr lang="en-US" sz="1500" dirty="0">
                <a:solidFill>
                  <a:srgbClr val="FFFFFF"/>
                </a:solidFill>
              </a:rPr>
              <a:t>Evaluated on validation and test sets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3FD18B"/>
                </a:solidFill>
              </a:rPr>
              <a:t>1.000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822960" y="5321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4FF"/>
                </a:solidFill>
              </a:rPr>
              <a:t>Voting Classifier F1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73952" y="1207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Gaussian Naive Bayes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6492240" y="1737360"/>
            <a:ext cx="4617720" cy="530352"/>
          </a:xfrm>
          <a:prstGeom prst="rect">
            <a:avLst/>
          </a:prstGeom>
          <a:solidFill>
            <a:srgbClr val="071421">
              <a:alpha val="80000"/>
            </a:srgbClr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4FF"/>
                </a:solidFill>
              </a:rPr>
              <a:t>Used as the Bayesian-style classifier because it predicts using probabilities for each class.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37960" y="2761488"/>
            <a:ext cx="438912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FFFFFF"/>
                </a:solidFill>
              </a:rPr>
              <a:t>Fast probability-based classifier</a:t>
            </a:r>
            <a:endParaRPr lang="en-US" sz="1500" dirty="0"/>
          </a:p>
          <a:p>
            <a:r>
              <a:rPr lang="en-US" sz="1500" dirty="0">
                <a:solidFill>
                  <a:srgbClr val="FFFFFF"/>
                </a:solidFill>
              </a:rPr>
              <a:t>Compared to the voting ensemble</a:t>
            </a:r>
            <a:endParaRPr lang="en-US" sz="1500" dirty="0"/>
          </a:p>
          <a:p>
            <a:r>
              <a:rPr lang="en-US" sz="1500" dirty="0">
                <a:solidFill>
                  <a:srgbClr val="FFFFFF"/>
                </a:solidFill>
              </a:rPr>
              <a:t>Also performed strongly on this dataset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3796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3FD18B"/>
                </a:solidFill>
              </a:rPr>
              <a:t>1.000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6537960" y="53218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4FF"/>
                </a:solidFill>
              </a:rPr>
              <a:t>Naive Bayes F1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94360" y="645566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CADB"/>
                </a:solidFill>
              </a:rPr>
              <a:t>ITAI 1371 Final Project  |  Richard Scott  |  5/6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abstract_cybersecurity_technology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3840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7142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Takeaways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777240" y="12070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421"/>
                </a:solidFill>
              </a:rPr>
              <a:t>What I learned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822960" y="1755648"/>
            <a:ext cx="512064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071421"/>
                </a:solidFill>
              </a:rPr>
              <a:t>This is binary classification, not regression</a:t>
            </a:r>
            <a:endParaRPr lang="en-US" sz="1600" dirty="0"/>
          </a:p>
          <a:p>
            <a:r>
              <a:rPr lang="en-US" sz="1600" dirty="0">
                <a:solidFill>
                  <a:srgbClr val="071421"/>
                </a:solidFill>
              </a:rPr>
              <a:t>Cleanup matters before model training</a:t>
            </a:r>
            <a:endParaRPr lang="en-US" sz="1600" dirty="0"/>
          </a:p>
          <a:p>
            <a:r>
              <a:rPr lang="en-US" sz="1600" dirty="0">
                <a:solidFill>
                  <a:srgbClr val="071421"/>
                </a:solidFill>
              </a:rPr>
              <a:t>Perfect results should be checked, not blindly accepted</a:t>
            </a:r>
            <a:endParaRPr lang="en-US" sz="1600" dirty="0"/>
          </a:p>
          <a:p>
            <a:r>
              <a:rPr lang="en-US" sz="1600" dirty="0">
                <a:solidFill>
                  <a:srgbClr val="071421"/>
                </a:solidFill>
              </a:rPr>
              <a:t>A simpler accurate model can be easier to justify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3767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71421"/>
                </a:solidFill>
              </a:rPr>
              <a:t>My contribution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822960" y="4315968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71421"/>
                </a:solidFill>
              </a:rPr>
              <a:t>Built a clean individual Final notebook, preserved labels correctly, added duplicate-row correction, ran the model comparison, and organized deliverables in GitHub.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1228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71421"/>
                </a:solidFill>
              </a:rPr>
              <a:t>Submission package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903720" y="1965960"/>
            <a:ext cx="402336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071421"/>
                </a:solidFill>
              </a:rPr>
              <a:t>Final notebook (.ipynb)</a:t>
            </a:r>
            <a:endParaRPr lang="en-US" sz="1500" dirty="0"/>
          </a:p>
          <a:p>
            <a:r>
              <a:rPr lang="en-US" sz="1500" dirty="0">
                <a:solidFill>
                  <a:srgbClr val="071421"/>
                </a:solidFill>
              </a:rPr>
              <a:t>Cleaned/output CSV files</a:t>
            </a:r>
            <a:endParaRPr lang="en-US" sz="1500" dirty="0"/>
          </a:p>
          <a:p>
            <a:r>
              <a:rPr lang="en-US" sz="1500" dirty="0">
                <a:solidFill>
                  <a:srgbClr val="071421"/>
                </a:solidFill>
              </a:rPr>
              <a:t>Model comparison spreadsheet/PDF</a:t>
            </a:r>
            <a:endParaRPr lang="en-US" sz="1500" dirty="0"/>
          </a:p>
          <a:p>
            <a:r>
              <a:rPr lang="en-US" sz="1500" dirty="0">
                <a:solidFill>
                  <a:srgbClr val="071421"/>
                </a:solidFill>
              </a:rPr>
              <a:t>Written report and slide deck</a:t>
            </a:r>
            <a:endParaRPr lang="en-US" sz="1500" dirty="0"/>
          </a:p>
          <a:p>
            <a:r>
              <a:rPr lang="en-US" sz="1500" dirty="0">
                <a:solidFill>
                  <a:srgbClr val="071421"/>
                </a:solidFill>
              </a:rPr>
              <a:t>GitHub link submitted in Canvas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12280" y="48006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80ED"/>
                </a:solidFill>
              </a:rPr>
              <a:t>Questions?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94360" y="6455664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C7186"/>
                </a:solidFill>
              </a:rPr>
              <a:t>ITAI 1371 Final Project  |  Richard Scott  |  6/6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Benign vs Malicious Traffic Classification</dc:title>
  <dc:subject>ITAI 1371 Final Classification Project</dc:subject>
  <dc:creator>Richard Scott</dc:creator>
  <cp:lastModifiedBy>Richard Scott</cp:lastModifiedBy>
  <cp:revision>1</cp:revision>
  <dcterms:created xsi:type="dcterms:W3CDTF">2026-05-05T22:08:02Z</dcterms:created>
  <dcterms:modified xsi:type="dcterms:W3CDTF">2026-05-05T22:08:02Z</dcterms:modified>
</cp:coreProperties>
</file>